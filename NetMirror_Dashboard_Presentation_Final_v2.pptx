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130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42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1F4FD8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3474720"/>
            <a:ext cx="4114800" cy="4114800"/>
          </a:xfrm>
          <a:prstGeom prst="ellipse">
            <a:avLst/>
          </a:prstGeom>
          <a:solidFill>
            <a:srgbClr val="8FA3C7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NETMIRROR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9D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 Dashboard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solution analysing the Netflix Movies &amp; TV Shows catalog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DAX  •  Power Query  •  Media Analytics</a:t>
            </a:r>
            <a:endParaRPr lang="en-US" sz="1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63DAE9-80E9-C564-9D16-6D01A716BC83}"/>
              </a:ext>
            </a:extLst>
          </p:cNvPr>
          <p:cNvSpPr/>
          <p:nvPr/>
        </p:nvSpPr>
        <p:spPr>
          <a:xfrm>
            <a:off x="9818702" y="-381739"/>
            <a:ext cx="3559946" cy="321371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EAF9A3-E03D-CFA7-4FE7-482847775368}"/>
              </a:ext>
            </a:extLst>
          </p:cNvPr>
          <p:cNvSpPr/>
          <p:nvPr/>
        </p:nvSpPr>
        <p:spPr>
          <a:xfrm>
            <a:off x="10848513" y="4686522"/>
            <a:ext cx="2192784" cy="21483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nudip USA">
            <a:extLst>
              <a:ext uri="{FF2B5EF4-FFF2-40B4-BE49-F238E27FC236}">
                <a16:creationId xmlns:a16="http://schemas.microsoft.com/office/drawing/2014/main" id="{39B300B4-6D7B-8DA0-922C-6795CB1001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39" y="204899"/>
            <a:ext cx="2075561" cy="7227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EBED2-103B-00EE-C1BB-0F0421C01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01261" y="5885588"/>
            <a:ext cx="1890740" cy="800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275652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84595" y="101605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NetMirror</a:t>
            </a:r>
            <a:endParaRPr lang="en-US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325880" y="2148840"/>
            <a:ext cx="1051560" cy="1051560"/>
          </a:xfrm>
          <a:prstGeom prst="ellipse">
            <a:avLst/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32588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  <a:latin typeface="Calibri" pitchFamily="34" charset="0"/>
                <a:cs typeface="Calibri" pitchFamily="34" charset="-120"/>
              </a:rPr>
              <a:t>Tandrima Nandy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073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76535" y="1737360"/>
            <a:ext cx="2606040" cy="3291840"/>
          </a:xfrm>
          <a:prstGeom prst="roundRect">
            <a:avLst>
              <a:gd name="adj" fmla="val 3509"/>
            </a:avLst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17820" y="2181910"/>
            <a:ext cx="1051560" cy="105156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53775" y="2114661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3202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  <a:latin typeface="Calibri" pitchFamily="34" charset="0"/>
                <a:cs typeface="Calibri" pitchFamily="34" charset="-120"/>
              </a:rPr>
              <a:t>Sumanta Kolley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23460" y="40073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&amp; DAX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51355" y="1737360"/>
            <a:ext cx="2606040" cy="3291840"/>
          </a:xfrm>
          <a:prstGeom prst="roundRect">
            <a:avLst>
              <a:gd name="adj" fmla="val 3509"/>
            </a:avLst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728595" y="2148840"/>
            <a:ext cx="1051560" cy="1051560"/>
          </a:xfrm>
          <a:prstGeom prst="ellipse">
            <a:avLst/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728595" y="2146399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472279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  <a:latin typeface="Calibri" pitchFamily="34" charset="0"/>
                <a:cs typeface="Calibri" pitchFamily="34" charset="-120"/>
              </a:rPr>
              <a:t>Rudranil Das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977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9136E04-7E1F-68E2-99D5-64185573CDD8}"/>
              </a:ext>
            </a:extLst>
          </p:cNvPr>
          <p:cNvSpPr/>
          <p:nvPr/>
        </p:nvSpPr>
        <p:spPr>
          <a:xfrm>
            <a:off x="10780155" y="5177346"/>
            <a:ext cx="2281561" cy="212176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2F464D8-6239-F7E4-5363-253751ABA991}"/>
              </a:ext>
            </a:extLst>
          </p:cNvPr>
          <p:cNvSpPr/>
          <p:nvPr/>
        </p:nvSpPr>
        <p:spPr>
          <a:xfrm>
            <a:off x="11240313" y="5664398"/>
            <a:ext cx="1361243" cy="13316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executive summary of a streaming catalog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vs TV Shows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catalog split between formats?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2628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reach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77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produce the most content?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187452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 ratings dominate the catalog?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406908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3832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52628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over time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production changed by release year?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406908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132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173736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50392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workflow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preprocessing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F4F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: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streaming catalog is hard to understand when the data is messy and scattered across raw columns.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6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00584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9DB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titles had no director listed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6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7091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9DB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missing cast or country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6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41248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9DB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shift: durations stored in rating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10744200" cy="1463040"/>
          </a:xfrm>
          <a:prstGeom prst="roundRect">
            <a:avLst>
              <a:gd name="adj" fmla="val 6250"/>
            </a:avLst>
          </a:prstGeom>
          <a:solidFill>
            <a:srgbClr val="D3E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005840" y="4572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r>
              <a:rPr lang="en-US" sz="18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non-technical viewer quickly see the catalog mix, geographic reach, audience ratings and release trends without wrestling with raw, inconsistent data?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Strategy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catalog insights translate into decisions (recommendations drawn from the dashboard)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globally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India and UK lead. Grow under-represented regions and pursue local licensing.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F4FD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66160" y="2057400"/>
            <a:ext cx="457200" cy="457200"/>
          </a:xfrm>
          <a:prstGeom prst="ellipse">
            <a:avLst/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661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audiences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mature (TV-MA, R) with family-friendly ratings to fill audience gaps.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55080" y="205740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355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growth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accelerates after 2010. Plan acquisitions around this trend.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1540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F4FD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0" y="2057400"/>
            <a:ext cx="457200" cy="457200"/>
          </a:xfrm>
          <a:prstGeom prst="ellipse">
            <a:avLst/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144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with data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guesswork with one interactive view that leadership can explore.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catalog data into clear, repeatable content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 state: Movie segment selected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6</a:t>
            </a:r>
            <a:endParaRPr lang="en-US" sz="1000" dirty="0"/>
          </a:p>
        </p:txBody>
      </p:sp>
      <p:pic>
        <p:nvPicPr>
          <p:cNvPr id="5" name="Image 0" descr="/mnt/user-data/uploads/1790787291121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7863840" cy="4379976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86800" y="15544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91540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1920 x 1080 page for full-screen viewing.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0" y="31089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891540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"Movie" updates every visual instantly.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0" y="4663440"/>
            <a:ext cx="2926080" cy="1280160"/>
          </a:xfrm>
          <a:prstGeom prst="roundRect">
            <a:avLst>
              <a:gd name="adj" fmla="val 7143"/>
            </a:avLst>
          </a:prstGeom>
          <a:solidFill>
            <a:srgbClr val="0B1F4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8915400" y="4846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 range and content type.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Dashboard Actually Does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delivered, from raw file to interactive report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9DB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61188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9DB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9DB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15400" y="16459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18972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9DB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page, 1920 x 1080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754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missing values, shifted columns and type issues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11780" y="420624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BBD0F5"/>
          </a:solidFill>
          <a:ln w="28575">
            <a:solidFill>
              <a:schemeClr val="tx1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024816" y="428625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 txBox="1"/>
          <p:nvPr/>
        </p:nvSpPr>
        <p:spPr>
          <a:xfrm>
            <a:off x="3024816" y="42699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48292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2939699" y="52806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Imputed, trimmed, converted dates, split duration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356616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212080" y="37490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212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4754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table for fast cross-filtering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44512" y="420624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BBD0F5"/>
          </a:solidFill>
          <a:ln w="28575">
            <a:solidFill>
              <a:schemeClr val="tx1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465492" y="4334888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7452360" y="4314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478309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7465492" y="5394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Movies, TV Shows, Countries in DAX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509760" y="356616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692640" y="37490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692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69264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9692640" y="4754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Donut, bar, funnel, area, pie, column, KPIs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flat, denormalised table prepared in Power Query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0B1F4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table?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model overhead and avoids unnecessary relationships.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cross-filtering fast and predictable for every visual on the page.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 non-technical viewers to explore.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057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show_id, type, title, director, cast, country, date_added, release_year, rating, duration, listed_in, description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BBD0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778240" y="2103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year_added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title joined the catalog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95360" y="30175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BBD0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77824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month_added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 added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95360" y="39319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BBD0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778240" y="3931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duration_value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part of </a:t>
            </a:r>
            <a:r>
              <a:rPr lang="en-US" sz="16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95360" y="4846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BBD0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778240" y="4846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duration_unit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Season / Seasons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3E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Methodology :</a:t>
            </a:r>
            <a:endParaRPr lang="en-US" sz="340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data-quality problems resolved before modelling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9</a:t>
            </a:r>
            <a:endParaRPr lang="en-US" sz="10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b="1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 b="1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b="1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shift</a:t>
            </a:r>
            <a:endParaRPr lang="en-US" sz="1800" b="1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 (e.g. "74 min") stored in rating: moved to duration, rating cleared for imputation</a:t>
            </a:r>
            <a:endParaRPr lang="en-US" sz="1300" b="1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BBD0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b="1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 b="1"/>
          </a:p>
        </p:txBody>
      </p:sp>
      <p:sp>
        <p:nvSpPr>
          <p:cNvPr id="12" name="Text 10"/>
          <p:cNvSpPr txBox="1"/>
          <p:nvPr/>
        </p:nvSpPr>
        <p:spPr>
          <a:xfrm>
            <a:off x="3566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b="1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missingness</a:t>
            </a:r>
            <a:endParaRPr lang="en-US" sz="1800" b="1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017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~30%, cast ~9%, country ~9%: imputed "Unknown" to avoid losing 30%+ of rows</a:t>
            </a:r>
            <a:endParaRPr lang="en-US" sz="1300" b="1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b="1"/>
          </a:p>
        </p:txBody>
      </p:sp>
      <p:sp>
        <p:nvSpPr>
          <p:cNvPr id="16" name="Shape 14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 b="1"/>
          </a:p>
        </p:txBody>
      </p:sp>
      <p:sp>
        <p:nvSpPr>
          <p:cNvPr id="17" name="Text 15"/>
          <p:cNvSpPr txBox="1"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b="1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missingness</a:t>
            </a:r>
            <a:endParaRPr lang="en-US" sz="1800" b="1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017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(&lt;0.1%) filled with mode TV-MA; rows lacking date_added (&lt;0.2%) removed</a:t>
            </a:r>
            <a:endParaRPr lang="en-US" sz="1300" b="1" dirty="0"/>
          </a:p>
        </p:txBody>
      </p:sp>
      <p:sp>
        <p:nvSpPr>
          <p:cNvPr id="20" name="Shape 18"/>
          <p:cNvSpPr/>
          <p:nvPr/>
        </p:nvSpPr>
        <p:spPr>
          <a:xfrm>
            <a:off x="8915400" y="1737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BBD0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b="1"/>
          </a:p>
        </p:txBody>
      </p:sp>
      <p:sp>
        <p:nvSpPr>
          <p:cNvPr id="21" name="Shape 19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 b="1"/>
          </a:p>
        </p:txBody>
      </p:sp>
      <p:sp>
        <p:nvSpPr>
          <p:cNvPr id="22" name="Text 20"/>
          <p:cNvSpPr txBox="1"/>
          <p:nvPr/>
        </p:nvSpPr>
        <p:spPr>
          <a:xfrm>
            <a:off x="9144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b="1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types</a:t>
            </a:r>
            <a:endParaRPr lang="en-US" sz="1800" b="1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3017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whitespace, ISO 8601 dates, regex split of duration into value and unit</a:t>
            </a:r>
            <a:endParaRPr lang="en-US" sz="1300" b="1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 b="1"/>
          </a:p>
        </p:txBody>
      </p:sp>
      <p:sp>
        <p:nvSpPr>
          <p:cNvPr id="26" name="Text 2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checks: whitespace trimming on all text columns, uniqueness of show_id, duplicate validation on (title, type, release_year)</a:t>
            </a:r>
            <a:endParaRPr lang="en-US" sz="15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Trackers and Catalog Mix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and format split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10</a:t>
            </a:r>
            <a:endParaRPr lang="en-US" sz="1000" dirty="0"/>
          </a:p>
        </p:txBody>
      </p:sp>
      <p:pic>
        <p:nvPicPr>
          <p:cNvPr id="5" name="Image 0" descr="/mnt/user-data/uploads/179078735822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45920"/>
            <a:ext cx="6035040" cy="153619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347472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85800" y="34747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Gauges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Titles, TV, Countries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606040" y="347472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2743200" y="34747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Movies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663440" y="347472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4800600" y="34747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core measures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949440" y="1645920"/>
            <a:ext cx="4663440" cy="4206240"/>
          </a:xfrm>
          <a:prstGeom prst="roundRect">
            <a:avLst>
              <a:gd name="adj" fmla="val 2174"/>
            </a:avLst>
          </a:prstGeom>
          <a:solidFill>
            <a:srgbClr val="0B1F4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17804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28600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Titles, Total Movies, Total TV Shows and Total Countries give an at-a-glance view of catalog size and reach.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donut chart shows the share of Movies versus TV Shows, and updates when a segment is selected.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Footprint and Audience Mix :</a:t>
            </a:r>
            <a:endParaRPr lang="en-US" sz="340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content comes from and who it is for</a:t>
            </a:r>
            <a:endParaRPr lang="en-US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11</a:t>
            </a:r>
            <a:endParaRPr lang="en-US" sz="1000" b="1" dirty="0"/>
          </a:p>
        </p:txBody>
      </p:sp>
      <p:pic>
        <p:nvPicPr>
          <p:cNvPr id="5" name="Image 0" descr="/mnt/user-data/uploads/1790787424847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45920"/>
            <a:ext cx="6949440" cy="1435608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863840" y="164592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b="1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</a:t>
            </a:r>
            <a:endParaRPr lang="en-US" sz="1800" b="1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States, India and the United Kingdom lead, pointing to global expansion and local licensing needs.</a:t>
            </a:r>
            <a:endParaRPr lang="en-US" sz="1400" b="1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EEF4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b="1"/>
          </a:p>
        </p:txBody>
      </p:sp>
      <p:sp>
        <p:nvSpPr>
          <p:cNvPr id="10" name="Text 7"/>
          <p:cNvSpPr txBox="1"/>
          <p:nvPr/>
        </p:nvSpPr>
        <p:spPr>
          <a:xfrm>
            <a:off x="77724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classification</a:t>
            </a:r>
            <a:endParaRPr lang="en-US" sz="1800" b="1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1148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and column charts show titles by age rating (TV-MA, TV-14, R, PG-13), comparing mature content with family-friendly programming.</a:t>
            </a:r>
            <a:endParaRPr lang="en-US" sz="1400" b="1" dirty="0"/>
          </a:p>
        </p:txBody>
      </p:sp>
      <p:sp>
        <p:nvSpPr>
          <p:cNvPr id="12" name="Shape 9"/>
          <p:cNvSpPr/>
          <p:nvPr/>
        </p:nvSpPr>
        <p:spPr>
          <a:xfrm>
            <a:off x="6309360" y="3840480"/>
            <a:ext cx="5303520" cy="2011680"/>
          </a:xfrm>
          <a:prstGeom prst="roundRect">
            <a:avLst>
              <a:gd name="adj" fmla="val 4545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b="1"/>
          </a:p>
        </p:txBody>
      </p:sp>
      <p:sp>
        <p:nvSpPr>
          <p:cNvPr id="13" name="Text 10"/>
          <p:cNvSpPr txBox="1"/>
          <p:nvPr/>
        </p:nvSpPr>
        <p:spPr>
          <a:xfrm>
            <a:off x="653796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Country</a:t>
            </a:r>
            <a:endParaRPr lang="en-US" sz="1800" b="1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values remain visible so data gaps are transparent.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Trend and Production Concentration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Release-year growth and director distribution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12</a:t>
            </a:r>
            <a:endParaRPr lang="en-US" sz="1000" dirty="0"/>
          </a:p>
        </p:txBody>
      </p:sp>
      <p:pic>
        <p:nvPicPr>
          <p:cNvPr id="5" name="Image 0" descr="/mnt/user-data/uploads/179078744729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61" y="1554480"/>
            <a:ext cx="7477432" cy="178308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4FF"/>
          </a:solidFill>
          <a:ln/>
          <a:effectLst>
            <a:glow rad="228600">
              <a:schemeClr val="accent5">
                <a:satMod val="175000"/>
                <a:alpha val="40000"/>
              </a:schemeClr>
            </a:glow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27532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trajectory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286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of titles by release year and type shows production accelerating after 2010.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EF4FF"/>
          </a:solidFill>
          <a:ln/>
          <a:effectLst>
            <a:glow rad="228600">
              <a:schemeClr val="accent1">
                <a:satMod val="175000"/>
                <a:alpha val="40000"/>
              </a:schemeClr>
            </a:glow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7724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concentration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297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titles per director, including titles with no director listed, shows a long tail of one-title directors.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40233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0B1F4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53796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ranks the catalog by rating for a quick audience comparison.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design decisions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645920"/>
            <a:ext cx="585216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50876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type conversion and null handling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2743200"/>
            <a:ext cx="585216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508760" y="2743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Single denormalised table, no cross-filter latency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80160" y="3840480"/>
            <a:ext cx="585216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50876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Titles, Movies, TV Shows, Countries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4937760"/>
            <a:ext cx="585216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508760" y="4937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type and release year, click-to-cross-filter</a:t>
            </a:r>
            <a:endParaRPr lang="en-US" sz="2000" dirty="0"/>
          </a:p>
        </p:txBody>
      </p:sp>
      <p:pic>
        <p:nvPicPr>
          <p:cNvPr id="21" name="Image 0" descr="/mnt/user-data/uploads/179078753154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881" y="1857983"/>
            <a:ext cx="4712078" cy="869653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22" name="Text 19"/>
          <p:cNvSpPr txBox="1"/>
          <p:nvPr/>
        </p:nvSpPr>
        <p:spPr>
          <a:xfrm>
            <a:off x="758952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release year range and content type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89520" y="35661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7818120" y="3566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x 1080 single page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viewing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Delivered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mapped to its fix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duration values in rating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755648"/>
            <a:ext cx="822960" cy="438912"/>
          </a:xfrm>
          <a:prstGeom prst="rightArrow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75120" y="160020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903720" y="16002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"min" in rating, moved to duration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249631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missing director, cast, country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2651760"/>
            <a:ext cx="822960" cy="438912"/>
          </a:xfrm>
          <a:prstGeom prst="rightArrow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75120" y="2496312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903720" y="249631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"Unknown" to keep 30%+ of rows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339242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dates and mixed durations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0" y="3547872"/>
            <a:ext cx="822960" cy="438912"/>
          </a:xfrm>
          <a:prstGeom prst="rightArrow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75120" y="3392424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903720" y="339242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dates, regex split into value and unit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88536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77240" y="428853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read raw catalog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4443984"/>
            <a:ext cx="822960" cy="438912"/>
          </a:xfrm>
          <a:prstGeom prst="rightArrow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675120" y="4288536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903720" y="428853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interactive dashboard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184648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77240" y="518464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unclear filtering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0" y="5340096"/>
            <a:ext cx="822960" cy="438912"/>
          </a:xfrm>
          <a:prstGeom prst="rightArrow">
            <a:avLst/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675120" y="5184648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0B1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518464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and cross-filtering on a flat model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grow next</a:t>
            </a:r>
            <a:endParaRPr lang="en-US" sz="16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NetMirror Content Analysis  | 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EEF4FF"/>
          </a:solidFill>
          <a:ln>
            <a:solidFill>
              <a:srgbClr val="0070C0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 from listed_in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country split for multi-country titles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cast and director leaderboards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BBD0F5"/>
          </a:solidFill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187452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57200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analytics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108960"/>
            <a:ext cx="3017520" cy="2651760"/>
          </a:xfrm>
          <a:prstGeom prst="rect">
            <a:avLst/>
          </a:prstGeom>
          <a:noFill/>
          <a:ln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report with drill-through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 with scheduled refresh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release and addition trends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B1F4B"/>
          </a:solidFill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21040" y="187452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F4F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32104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insights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viewership and engagement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descriptions for themes and sentiment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 and gap analysis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: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0584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D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clear story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cleaning kept over 30% of records that deletion would have lost.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D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mature-skewed catalog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468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India and UK lead; TV-MA and TV-14 dominate ratings.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00584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D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production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480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grows sharply after 2010.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374904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58368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D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480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let non-technical users explore instantly.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71222" y="5949437"/>
            <a:ext cx="3509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188386B-8B1E-C38C-6CDF-B169C8E0E9B9}"/>
              </a:ext>
            </a:extLst>
          </p:cNvPr>
          <p:cNvSpPr/>
          <p:nvPr/>
        </p:nvSpPr>
        <p:spPr>
          <a:xfrm>
            <a:off x="9746142" y="-1680940"/>
            <a:ext cx="3550596" cy="332686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4BF350-5B6D-75F1-5C5C-BBC1C82338D4}"/>
              </a:ext>
            </a:extLst>
          </p:cNvPr>
          <p:cNvSpPr/>
          <p:nvPr/>
        </p:nvSpPr>
        <p:spPr>
          <a:xfrm>
            <a:off x="10416702" y="5603132"/>
            <a:ext cx="3550596" cy="332686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87A8180-35E5-E190-8C15-140821D95C86}"/>
              </a:ext>
            </a:extLst>
          </p:cNvPr>
          <p:cNvSpPr/>
          <p:nvPr/>
        </p:nvSpPr>
        <p:spPr>
          <a:xfrm>
            <a:off x="11157626" y="6045740"/>
            <a:ext cx="1721796" cy="158560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7E4958-952C-DD8E-1F94-E47E23D00FFF}"/>
              </a:ext>
            </a:extLst>
          </p:cNvPr>
          <p:cNvSpPr/>
          <p:nvPr/>
        </p:nvSpPr>
        <p:spPr>
          <a:xfrm>
            <a:off x="10599581" y="-408561"/>
            <a:ext cx="2007465" cy="178016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1218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Tandrima Nandy</cp:lastModifiedBy>
  <cp:revision>34</cp:revision>
  <dcterms:created xsi:type="dcterms:W3CDTF">2026-09-30T17:24:08Z</dcterms:created>
  <dcterms:modified xsi:type="dcterms:W3CDTF">2026-09-30T18:28:55Z</dcterms:modified>
</cp:coreProperties>
</file>